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3840480" cy="3840480"/>
          </a:xfrm>
          <a:prstGeom prst="ellipse">
            <a:avLst/>
          </a:prstGeom>
          <a:solidFill>
            <a:srgbClr val="1C453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68680" cy="868680"/>
          </a:xfrm>
          <a:prstGeom prst="ellipse">
            <a:avLst/>
          </a:prstGeom>
          <a:solidFill>
            <a:srgbClr val="3E7B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9116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INCOSE SUSTAINABILITY WORKING GROUP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LLM-Wiki as a</a:t>
            </a:r>
            <a:endParaRPr lang="en-US" sz="46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Living Knowledge Base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4114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compounding, source-grounded knowledge system for our sustainability work — and how we keep it valid and hallucination-safe.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· </a:t>
            </a:r>
            <a:pPr algn="l" indent="0" marL="0">
              <a:buNone/>
            </a:pPr>
            <a:r>
              <a:rPr lang="en-US" sz="13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fit for the WG, and a proposed pilot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knowledge is real — but it doesn’t compound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WG generates a lot of durable knowledge: definitions, registers, systematic reviews. But it lives scattered across documents, drives and threads. Search and RAG re-derive answers from raw files every time — nothing is built up, and it quietly decays.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pattern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40336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867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default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fragments across files, tools and people — no single, current picture.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48108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4645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Re-derived every time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re-reads raw sources from scratch. Effort doesn’t accumulate.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558808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5422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Decays silently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5715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go stale; cross-references rot; the compendium ages faster than we maintain it.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537960" y="160020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EAF0E4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858000" y="18288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Knowledge assets the WG already owns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858000" y="24231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646" y="25658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definitions compendium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43800" y="2770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disciplines, 50+ definitions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000" y="33558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46" y="3498494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43800" y="3310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Seven-layer regenerative approaches register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54380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approaches for PV systems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858000" y="428853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646" y="4431182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43800" y="424281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543800" y="4636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method; ASReview, Rayyan, Elicit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858000" y="522122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646" y="5363870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543800" y="51755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Cross-discipline concepts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543800" y="5568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that span silos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4342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040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Karpathy’s LLM-Wiki:</a:t>
            </a:r>
            <a:endParaRPr lang="en-US" sz="27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knowledge that compiles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retrieving raw documents at query time, an LLM agent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compiles and maintains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persistent, interlinked wiki. Sources are the </a:t>
            </a:r>
            <a:pPr algn="l"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wiki is the </a:t>
            </a:r>
            <a:pPr algn="l"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artifact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Knowledge is compiled once and kept current — so it compounds instead of resetting on every question.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EAF0E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6732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“Obsidian is the IDE, the LLM is the programmer, the wiki is the codebase.”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Karpathy, introducing the pattern (April 2026)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822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Karpathy’s own research wiki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1737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~100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3816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~400K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38160" y="3813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4572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138160" y="5230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on the pattern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wiki is just a folder of plain files — but three roles keep the LLM a disciplined maintainer rather than a generic chatbot.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7962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6334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83080" y="288950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Raw sources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2971800" cy="365760"/>
          </a:xfrm>
          <a:prstGeom prst="rect">
            <a:avLst/>
          </a:prstGeom>
          <a:solidFill>
            <a:srgbClr val="EAF0E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source documents — papers, standards, notes, data. Immutable: the LLM reads but never edits them. The source of truth, so the wiki can always be re-derived.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2860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36592" y="2606040"/>
            <a:ext cx="731520" cy="731520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87" y="279623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50992" y="26334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50992" y="288950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wiki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36592" y="3520440"/>
            <a:ext cx="2971800" cy="365760"/>
          </a:xfrm>
          <a:prstGeom prst="rect">
            <a:avLst/>
          </a:prstGeom>
          <a:solidFill>
            <a:srgbClr val="EAF0E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wiki/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36592" y="40690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LLM-owned markdown: entity pages, concept pages, summaries, an overview. Interlinked. Plus index.md (routing) and log.md (audit trail).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84464" y="22860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04504" y="2606040"/>
            <a:ext cx="731520" cy="731520"/>
          </a:xfrm>
          <a:prstGeom prst="ellipse">
            <a:avLst/>
          </a:prstGeom>
          <a:solidFill>
            <a:srgbClr val="3E7B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699" y="279623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18904" y="26334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518904" y="288950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schema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604504" y="3520440"/>
            <a:ext cx="2971800" cy="365760"/>
          </a:xfrm>
          <a:prstGeom prst="rect">
            <a:avLst/>
          </a:prstGeom>
          <a:solidFill>
            <a:srgbClr val="EAF0E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/ AGENTS.md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604504" y="40690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 file that defines conventions and the ingest / query / lint workflows. Read at runtime — edit it and behaviour changes on the next run.</a:t>
            </a:r>
            <a:endParaRPr lang="en-US" sz="12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3657600"/>
            <a:ext cx="219456" cy="219456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365760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Re-derivable: because raw sources are immutable, the whole wiki can be rebuilt from them at any time.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8600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Ingest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source into raw/. The LLM reads it, writes a summary, updates the index, and revises every related concept page — often 10–15 pages in one pass. It flags contradictions instead of hiding them.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16552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5292" y="228600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36" y="25237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16552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Query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782312" y="38862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against the wiki. The LLM reads the relevant pages and answers with citations. Good answers are filed back in as new pages — so exploration compounds too.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84464" y="18745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33204" y="228600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48" y="25237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Lint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650224" y="38862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health-check the wiki: contradictions, stale claims, orphan pages, missing links and gaps. This is the maintenance step humans abandon — and LLMs don’t get bored of.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fits the Sustainability WG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knowledge is exactly the kind the pattern is built for: multi-source, cross-disciplinary, and only valuable when synthesised. The wiki earns its keep where a page compresses facts scattered across many sources.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7843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78608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Definitions compendium → concept graph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disciplines and 50+ definitions become interlinked concept pages — contradictions surfaced, not buried.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28600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606040"/>
            <a:ext cx="685800" cy="685800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28" y="27843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578608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Approaches register → living entity pages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75120" y="333756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seven-layer register becomes structured, queryable pages that update as new evidence arrives.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5720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7503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544568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SLR outputs → a queryable evidence base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68680" y="530352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screening feeds a synthesis you can interrogate, instead of a static PDF nobody reopens.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25196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572000"/>
            <a:ext cx="685800" cy="685800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47503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544568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Cross-links → connections we’d miss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675120" y="530352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maintains cross-references across silos that no single member has time to keep current.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Open Knowledge Format (OKF)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(June 2026) formalised exactly this pattern into an open, vendor-neutral spec: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+ a little YAML frontmatter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cleanly separates who writes knowledge from who consumes it — think </a:t>
            </a:r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“OpenAPI for knowledge.”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3205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0358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required field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35584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type. Everything else (title, description, resource, tags, timestamp, citations) is optional.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99592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413857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9684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cross-links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42885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are ordinary links; broken links are tolerated as “not yet written.”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2861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71262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9011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&amp; Apache-2.0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52212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SDK, no runtime, no lock-in. Producers and consumers are independently swappable.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766560" y="160020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14342B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8660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OKF concept page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086600" y="224028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Regenerative Approach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Nutrient Cycling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[soil, circularity]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2026-05-28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Definition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Cross-links to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8FC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[soil health]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(/concepts/soil.md).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Citations
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8FC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 A]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(https://…)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Open, portable, no vendor lock-in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a standards community: the knowledge must outlive any single tool, model or membership.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EAF0E4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32888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Just a git repo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version history, diffs, review and blame. Portable as a tarball; readable in any editor or on GitHub.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14884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EAF0E4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5146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27047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532888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Model-agnostic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75120" y="320040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abstraction (e.g. LiteLLM) runs it on any model — OpenAI, Anthropic, Gemini, or a local model.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EAF0E4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526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7164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544568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Shareable across members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8680" y="521208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OKF is the contract. One member’s wiki is consumable by another’s agent — no translation, no gatekeeper.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160520"/>
            <a:ext cx="5285232" cy="1828800"/>
          </a:xfrm>
          <a:prstGeom prst="roundRect">
            <a:avLst>
              <a:gd name="adj" fmla="val 5000"/>
            </a:avLst>
          </a:prstGeom>
          <a:solidFill>
            <a:srgbClr val="EAF0E4"/>
          </a:solidFill>
          <a:ln/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526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471647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544568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Human- and machine-readable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675120" y="521208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files render for people (Obsidian, GitHub) and feed agents. No proprietary store to migrate off.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1C45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RIGOR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risk we must manage: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baked-in hallucinations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wiki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sources into synthesised pages, a single error can propagate silently across every linked page — a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cascade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a scientific WG, that is the whole ballgame.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D4132"/>
          </a:solidFill>
          <a:ln w="19050">
            <a:solidFill>
              <a:srgbClr val="3E7B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RAG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answer, in one place. It disappears when you close the chat.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41148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D4132"/>
          </a:solidFill>
          <a:ln w="19050">
            <a:solidFill>
              <a:srgbClr val="B55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A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Wiki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“fact” other pages cite and build on. It persists and spreads.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2651760"/>
            <a:ext cx="914400" cy="914400"/>
          </a:xfrm>
          <a:prstGeom prst="ellipse">
            <a:avLst/>
          </a:prstGeom>
          <a:solidFill>
            <a:srgbClr val="B5502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4" y="288950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66760" y="37490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pattern is only safe with a human-in-the-loop validation process. That is the next slide — and the condition of adopting it.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VALID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human-in-the-loop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newsroom model: draft, review and gate every page before it becomes trusted knowledge. Evidence shows the hybrid human + LLM check beats either alone.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6060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27962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Curate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8404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selects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sources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92608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52928" y="23317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29584" y="26060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779" y="27962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52928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Draft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990088" y="38404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pages,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cite per claim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92608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57216" y="23317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833872" y="26060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067" y="279623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57216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Review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294376" y="38404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LLM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critiques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92608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61504" y="23317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138160" y="26060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355" y="2796235"/>
            <a:ext cx="351130" cy="3511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61504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Lint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7598664" y="38404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checks: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orphans, drift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292608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765792" y="23317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6ECD8"/>
          </a:solidFill>
          <a:ln w="19050">
            <a:solidFill>
              <a:srgbClr val="C8892A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10442448" y="2606040"/>
            <a:ext cx="731520" cy="731520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2643" y="2796235"/>
            <a:ext cx="351130" cy="35113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65792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89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 Publish gate</a:t>
            </a:r>
            <a:endParaRPr lang="en-US" sz="1500" dirty="0"/>
          </a:p>
        </p:txBody>
      </p:sp>
      <p:sp>
        <p:nvSpPr>
          <p:cNvPr id="33" name="Text 22"/>
          <p:cNvSpPr/>
          <p:nvPr/>
        </p:nvSpPr>
        <p:spPr>
          <a:xfrm>
            <a:off x="9902952" y="38404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it’s trusted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0E4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10235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43000" y="502920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loop: </a:t>
            </a:r>
            <a:pPr indent="0" marL="0">
              <a:buNone/>
            </a:pPr>
            <a:r>
              <a:rPr lang="en-US" sz="1300" dirty="0">
                <a:solidFill>
                  <a:srgbClr val="2E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provenance + confidence → scheduled re-validation → re-examine only pages whose freshness flags trip.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Tsaneva et al. (2025), Information Processing &amp; Management: a hybrid human-in-the-loop + LLM approach gave the best overall validation — about +5% F1 with minimal human effort.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88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guardrails, concretely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24571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5000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Grounding by citation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knowledge-heavy claim must cite a raw source. OKF’s # Citations block gives this a home; uncited claims are flagged.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286000"/>
            <a:ext cx="658368" cy="658368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56" y="24571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35000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Independent review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model instance re-checks the draft — curbing the self-grading bias of one model marking its own work.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96596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28600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256" y="24571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4040" y="235000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Deterministic lint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4108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(not tokens) enforce schema, links and freshness. Cheap, repeatable, and immune to model drift.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480560"/>
            <a:ext cx="658368" cy="658368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6" y="465173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445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Confidence + provenance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5257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carries a status and source stamp. Contradiction-sampling (SelfCheckGPT-style) can gate high-stakes pages.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1605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48056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056" y="4651736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45445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 publish gate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54880" y="5257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draft becomes trusted knowledge without a WG member’s sign-off. The git history is the audit trail.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5D6"/>
            </a:solidFill>
            <a:prstDash val="solid"/>
          </a:ln>
          <a:effectLst>
            <a:outerShdw sx="100000" sy="100000" kx="0" ky="0" algn="bl" rotWithShape="0" blurRad="76200" dist="38100" dir="5400000">
              <a:srgbClr val="9AA79B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41080" y="4480560"/>
            <a:ext cx="658368" cy="658368"/>
          </a:xfrm>
          <a:prstGeom prst="ellipse">
            <a:avLst/>
          </a:prstGeom>
          <a:solidFill>
            <a:srgbClr val="C889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256" y="4651736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64040" y="45445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E3A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Scheduled re-validation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641080" y="5257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runs on a timer; upstream changes re-open only the affected pages — maintenance stays bounded.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C45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3E7B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540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412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Proposal: a small WG pilot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80160" y="244144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Pilot on one asset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279806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LLM-Wiki over the regeneration definitions compendium — our densest, most cross-linked knowledge.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80160" y="33101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it OKF-conformant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366674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markdown + frontmatter spec from day one, so it stays portable and shareable across the WG.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280160" y="41788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Wire in the HITL gates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453542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independent review, deterministic lint, and a human publish gate — non-negotiable for our rigor.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80160" y="50474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at the next session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280160" y="540410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9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pilot back: does a page compress real work, and do the gates hold? Decide to scale or stop.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reversible, and honest about the risk. If the wiki doesn’t compress real work, we stop — and we’ll know why.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Sustainability WG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2026-08-05T11:53:04Z</dcterms:created>
  <dcterms:modified xsi:type="dcterms:W3CDTF">2026-08-05T11:53:04Z</dcterms:modified>
</cp:coreProperties>
</file>