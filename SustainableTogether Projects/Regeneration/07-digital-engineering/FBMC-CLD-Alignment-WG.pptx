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we are building one integrated model chain for the SustainaSun business model. Today the four artifacts exist but are hand-translated. This talk shows how we make the chain semantically continuous, starting from the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example each. Emphasize: with two hand-edited artifacts there is no reference to be wrong against. That is the actual problem to fix — not the individual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concept is the whole trick. Canvas elements are things; CLD variables are quantities. A MeasurableAttribute is simultaneously a property of a canvas element and exactly what a CLD variable measures. Every variable must trace: variable to attribute to canvas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architectural point: with 4 domains, pairwise mapping needs up to 6 mappings that all drift. Hub-and-spoke needs 4, and adding the SD model or the Excel binding later reuses the same bridge. The registry is the single source of truth; canvas and CLD become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workbook after this slide if time allows. The README sheet contains the full append workflow; the four rules here are the ones people must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section 7 of the Word document, condensed. The point to land: the mapping covers the WHOLE canvas including ecological actors, co-destructions and tri-profit outcomes — the parts that vanished in the v1/v2 CLDs.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recognizable Senge/Sterman archetypes, but each is anchored to canvas blocks. R3 — the regeneration engine — is the structurally distinctive loop of a strongly sustainable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 for the WG: the alignment isn't bureaucracy — it turns 'strongly sustainable' from a claim into a checkable structural property of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what versions 1 and 2 never had. Any WG member can propose a change — but it lands in the ChangeLog and the registry, not in a Word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asks. The PV instantiation is a workshop-sized task: rename 21 variables from the canvas, fill units, done - the structure is already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SUSTAINABLETOGETHER  ·  INCOSE SUSTAINABILITY WORKING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Language from Canvas to Simulation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alignment of the Flourishing Business Model Canvas, the Causal Loop Diagram, the System Dynamics model and the financial model — via one Concept Registry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2A4D2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FBMC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13432" y="3291840"/>
            <a:ext cx="402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32918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2A4D2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291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3291840"/>
            <a:ext cx="402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2A4D2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291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(Vensim)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1112" y="3291840"/>
            <a:ext cx="402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95160" y="32918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2A4D2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291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(Excel)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Bassam  ·  July 2026  ·  working draft for WG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between paper v1 and v2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business, two hand-made CLDs — four defect classes, all real examples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389888"/>
          </a:xfrm>
          <a:prstGeom prst="roundRect">
            <a:avLst>
              <a:gd name="adj" fmla="val 4605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533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44584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drift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70432" y="162763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“active customer base” became “leased PV-System customers” — no mapping, no rename log, traceability lost.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389888"/>
          </a:xfrm>
          <a:prstGeom prst="roundRect">
            <a:avLst>
              <a:gd name="adj" fmla="val 4605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3533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89" y="14458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loop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22392" y="162763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loop “R7” contains one negative link (price → affordability) — it is balancing. Loop type was asserted, not derived.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761488"/>
            <a:ext cx="3977640" cy="1389888"/>
          </a:xfrm>
          <a:prstGeom prst="roundRect">
            <a:avLst>
              <a:gd name="adj" fmla="val 4605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29260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301861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merged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70432" y="3200400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separated actual environmental benefit from perceived reputation. v2 collapsed both into one perception variable.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761488"/>
            <a:ext cx="3977640" cy="1389888"/>
          </a:xfrm>
          <a:prstGeom prst="roundRect">
            <a:avLst>
              <a:gd name="adj" fmla="val 4605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29260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289" y="301861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2392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Ill-formed variables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22392" y="3200400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“Financier confidence and ROI confidence” (two concepts), “reputational gain” (direction baked into the name).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modelling errors — they are integration failures. </a:t>
            </a:r>
            <a:pPr indent="0" marL="0">
              <a:buNone/>
            </a:pPr>
            <a:r>
              <a:rPr lang="en-US" sz="13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connected the CLD to the canvas, and nothing connected v2 to v1.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and the one idea that fixes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34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35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 speaks in THINGS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Actors, resources, activities, value propositions, goals.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between them — but no time behaviour. Nothing in a canvas rises or falls.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834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352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CLD speaks in QUANTITIES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" y="33649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causal links with polarity, feedback loops — but no actors and no value propositions.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54880" y="1051560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937760" y="1051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“Elements don’t vary — their attributes do.”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“Financier” is an Actor. “Financier confidence” is its measurable attribute.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54880" y="237744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37760" y="23774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FBMC Element   </a:t>
            </a:r>
            <a:pPr indent="0" marL="0">
              <a:buNone/>
            </a:pPr>
            <a:r>
              <a:rPr lang="en-US" sz="11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 on the canvas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83680" y="29809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F62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754880" y="3273552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4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937760" y="327355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Attribute   </a:t>
            </a:r>
            <a:pPr indent="0" marL="0">
              <a:buNone/>
            </a:pPr>
            <a:r>
              <a:rPr lang="en-US" sz="11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— one per concept, with unit, dimension, SD-type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83680" y="38770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F62"/>
                </a:solidFill>
              </a:rPr>
              <a:t>↓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754880" y="4169664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E8EEF6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937760" y="416966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6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 System Variable   </a:t>
            </a:r>
            <a:pPr indent="0" marL="0">
              <a:buNone/>
            </a:pPr>
            <a:r>
              <a:rPr lang="en-US" sz="11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realizes exactly one attribute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hub-and-spoke via a Concept Registry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every domain once to a shared registry — never pairwise artifact-to-artifact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Metamodel each domain separately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language talk about? (draw.io pages 1 + 2)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90195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bridge concept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MeasurableAttribute — one registry row per concept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261518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Type-level derivation rules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Resource→Stock, Activity→Flow, perception→Auxiliary, Goal→Output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332841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checked on every change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traceability, derived loop polarity, naming rules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0416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 flows through the registry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split / merge / retire = ChangeLog entries; artifacts are regenerated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1280160"/>
            <a:ext cx="1188720" cy="132588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949440" y="1280160"/>
            <a:ext cx="1188720" cy="132588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760720" y="2606040"/>
            <a:ext cx="1188720" cy="132588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606040"/>
            <a:ext cx="1188720" cy="132588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103120"/>
            <a:ext cx="1554480" cy="10058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4" y="2221992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72200" y="24780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02352" y="969264"/>
            <a:ext cx="1316736" cy="621792"/>
          </a:xfrm>
          <a:prstGeom prst="ellipse">
            <a:avLst/>
          </a:prstGeom>
          <a:solidFill>
            <a:srgbClr val="EDF3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02352" y="96926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FBMC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479792" y="969264"/>
            <a:ext cx="1316736" cy="621792"/>
          </a:xfrm>
          <a:prstGeom prst="ellipse">
            <a:avLst/>
          </a:prstGeom>
          <a:solidFill>
            <a:srgbClr val="EDF3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79792" y="96926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102352" y="3621024"/>
            <a:ext cx="1316736" cy="621792"/>
          </a:xfrm>
          <a:prstGeom prst="ellipse">
            <a:avLst/>
          </a:prstGeom>
          <a:solidFill>
            <a:srgbClr val="EDF3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2352" y="36210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model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479792" y="3621024"/>
            <a:ext cx="1316736" cy="621792"/>
          </a:xfrm>
          <a:prstGeom prst="ellipse">
            <a:avLst/>
          </a:prstGeom>
          <a:solidFill>
            <a:srgbClr val="EDF3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79792" y="36210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Registry — an Excel workbook, live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generic concepts, 34 links, 9 loops pre-filled; PV instantiation appends PV- rows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321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600200"/>
                <a:gridCol w="1417320"/>
                <a:gridCol w="640080"/>
                <a:gridCol w="502920"/>
                <a:gridCol w="685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FBMC anchor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stakeholder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 (Who)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E+S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co-creation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Co-Creations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E+S+E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biophysical stock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Biophysical Stocks (Env)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mat.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attainment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(Outcomes)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dmnl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E+S+E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204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Sheets: README (how to append) · Concepts · CausalLinks · Loops · ChangeLog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type in the Loops sheet is a live formula: =IF(ISODD(NegLinkCount),"B","R")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18872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2435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never reused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rows, don’t delete them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2029968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084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type is a formula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 derived from the count of negative links — the v2 “R7” error cannot recur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871216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starts in ChangeLog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rename / split / merge / retire, with rationale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3712464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767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cells = fill on instantiation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canvas element, v1/v2 legacy names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SustainaSun_Concept_Registry.xlsx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canvas, translated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FBMC block contributes at least one generic variable — coverage by construction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3172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FBMC blocks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CLD variables (SD type)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/ People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Actors, Stakeholders, Needs, Relationships, Channels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addressable actor pool (Stock) · engaged stakeholder base (Stock) · need satisfaction (Aux) · relationship strength (Stock) · engagement rate (Flow)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Co-Creations, Co-Destructions, Products/Services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co-creation rate (Flow) · value co-destruction rate (Flow) · offering delivery quality (Aux)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Activities, Resources, Partnerships,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throughput (Flow) · resource &amp; capability stock (Stock) · activity capacity (Aux) · partnership strength (Aux) · governance response (Aux)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Biophysical Stocks, Ecosystem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biophysical stock level (Stock) · extraction &amp; impact rate (Flow) · regeneration rate (Flow) · ecosystem service capacity (Aux)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+ Society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Costs, Benefits, Goals, Society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incurred tri-profit costs (Aux) · realized tri-profit benefits (Stock) · goal attainment gap (Output) · societal legitimacy (Aux)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 = renaming these 21 variables for the PV business — </a:t>
            </a:r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inventing unanchored ones, never silently skipping a block.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generic CLD: nine loops, all archetypes, no use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page 4 — the template any instantiation should reproduce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594" y="1441826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(R)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Value engagement engine — growth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Capability reinvestment — investment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Regenerative reinvestment — regeneration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Legitimacy engine — reputation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F6EDE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533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34" y="1441826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(B)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187452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Actor pool saturation — market limit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Service overload — underinvestment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Co-destruction drag — externality backlash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Ecological source limit — biophysical limit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Governance goal-seeking — control loop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variables and 34 links are in the registry; loop types are computed, not asserted.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completeness test for strong sustainability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3533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business model CLD contains…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growth · B1 saturation · R2 investment · B2 overload · a financial control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economic core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3533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FBMC forces five more into the model: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64608" y="18745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externality backlash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biophysical source limit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regenerative reinvestment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goal-seeking in all three tri-profit dimensions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societal legitimacy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FF4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4224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3251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4069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instantiated CLD is missing these loops, either the business genuinely lacks them (a finding) — or the translation lost them (an invariant violation). Either way, now we can tell.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artifacts synchronized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invariants, one workflow — checked before any version is published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3429000"/>
          </a:xfrm>
          <a:prstGeom prst="roundRect">
            <a:avLst>
              <a:gd name="adj" fmla="val 1867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 Variable → attribute → canvas element (full trace)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 Every block covered, or exclusion documented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 Loop type derived from polarities, never asserted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 One concept per variable; direction-neutral names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  Actual state ≠ perceived state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I6  Every goal indicator appears in the CLD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  All changes via ChangeLog; artifacts regenerated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92040" y="129844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188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ChangeLog entry first (add / rename / split / merge / retire)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21671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registry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bumped, IDs never reused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30358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annotations + CLD re-projected; loop types re-derived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39044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 </a:t>
            </a:r>
            <a:pPr indent="0" marL="0">
              <a:buNone/>
            </a:pPr>
            <a:r>
              <a:rPr lang="en-US" sz="110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carries the registry version it came from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table today, and the road to the PV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6245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1467063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618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FBMC-CLD-Alignment-Ontology.drawio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editable pages: FBMC metamodel, CLD metamodel, bridge, generic CLD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23225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9" y="242718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219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FBMC-CLD-Semantic-Alignment.docx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method, complete block mapping, loop catalogue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10896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D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32826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338730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821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SustainaSun_Concept_Registry.xlsx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truth, with append documentation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892040" y="1271016"/>
            <a:ext cx="420624" cy="420624"/>
          </a:xfrm>
          <a:prstGeom prst="ellipse">
            <a:avLst/>
          </a:prstGeom>
          <a:solidFill>
            <a:srgbClr val="B26B00"/>
          </a:solidFill>
          <a:ln/>
        </p:spPr>
      </p:sp>
      <p:sp>
        <p:nvSpPr>
          <p:cNvPr id="16" name="Text 11"/>
          <p:cNvSpPr/>
          <p:nvPr/>
        </p:nvSpPr>
        <p:spPr>
          <a:xfrm>
            <a:off x="4892040" y="1271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40680" y="1188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 </a:t>
            </a:r>
            <a:pPr indent="0" marL="0">
              <a:buNone/>
            </a:pPr>
            <a:r>
              <a:rPr lang="en-US" sz="105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PV- rows in the registry from the SustainaSun canvas; reconcile v1/v2 names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892040" y="2020824"/>
            <a:ext cx="420624" cy="420624"/>
          </a:xfrm>
          <a:prstGeom prst="ellipse">
            <a:avLst/>
          </a:prstGeom>
          <a:solidFill>
            <a:srgbClr val="B26B00"/>
          </a:solidFill>
          <a:ln/>
        </p:spPr>
      </p:sp>
      <p:sp>
        <p:nvSpPr>
          <p:cNvPr id="19" name="Text 14"/>
          <p:cNvSpPr/>
          <p:nvPr/>
        </p:nvSpPr>
        <p:spPr>
          <a:xfrm>
            <a:off x="489204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40680" y="19385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 v3  </a:t>
            </a:r>
            <a:pPr indent="0" marL="0">
              <a:buNone/>
            </a:pPr>
            <a:r>
              <a:rPr lang="en-US" sz="105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from the registry — corrected loops, full traceability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892040" y="2770632"/>
            <a:ext cx="420624" cy="420624"/>
          </a:xfrm>
          <a:prstGeom prst="ellipse">
            <a:avLst/>
          </a:prstGeom>
          <a:solidFill>
            <a:srgbClr val="B26B00"/>
          </a:solidFill>
          <a:ln/>
        </p:spPr>
      </p:sp>
      <p:sp>
        <p:nvSpPr>
          <p:cNvPr id="22" name="Text 17"/>
          <p:cNvSpPr/>
          <p:nvPr/>
        </p:nvSpPr>
        <p:spPr>
          <a:xfrm>
            <a:off x="48920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40680" y="268833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Vensim SD  </a:t>
            </a:r>
            <a:pPr indent="0" marL="0">
              <a:buNone/>
            </a:pPr>
            <a:r>
              <a:rPr lang="en-US" sz="105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sdTypeHint → Level/Rate/Aux/Constant; units from the registry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892040" y="3520440"/>
            <a:ext cx="420624" cy="420624"/>
          </a:xfrm>
          <a:prstGeom prst="ellipse">
            <a:avLst/>
          </a:prstGeom>
          <a:solidFill>
            <a:srgbClr val="B26B00"/>
          </a:solidFill>
          <a:ln/>
        </p:spPr>
      </p:sp>
      <p:sp>
        <p:nvSpPr>
          <p:cNvPr id="25" name="Text 20"/>
          <p:cNvSpPr/>
          <p:nvPr/>
        </p:nvSpPr>
        <p:spPr>
          <a:xfrm>
            <a:off x="48920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40680" y="343814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binding  </a:t>
            </a:r>
            <a:pPr indent="0" marL="0">
              <a:buNone/>
            </a:pPr>
            <a:r>
              <a:rPr lang="en-US" sz="1050" dirty="0">
                <a:solidFill>
                  <a:srgbClr val="5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line items → Econ attributes; KPIs → goal indicators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58368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to the WG: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bridge ontology and the generic loop set · agree the registry as the single source of truth · volunteers for the PV instantiation workshop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FBMC-CLD Semantic Alignment</dc:title>
  <dc:subject>PptxGenJS Presentation</dc:subject>
  <dc:creator>SustainableTogether</dc:creator>
  <cp:lastModifiedBy>SustainableTogether</cp:lastModifiedBy>
  <cp:revision>1</cp:revision>
  <dcterms:created xsi:type="dcterms:W3CDTF">2026-07-02T13:08:36Z</dcterms:created>
  <dcterms:modified xsi:type="dcterms:W3CDTF">2026-07-02T13:08:36Z</dcterms:modified>
</cp:coreProperties>
</file>